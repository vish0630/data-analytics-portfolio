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200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6DF7-4DB3-4A0F-B03C-75DAAD47EB17}" type="datetimeFigureOut">
              <a:rPr lang="en-IN" smtClean="0"/>
              <a:t>19/01/26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C9780-F6FB-4BE3-B832-A695B5B5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017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6DF7-4DB3-4A0F-B03C-75DAAD47EB17}" type="datetimeFigureOut">
              <a:rPr lang="en-IN" smtClean="0"/>
              <a:t>19/01/26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5EC9780-F6FB-4BE3-B832-A695B5B5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633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6DF7-4DB3-4A0F-B03C-75DAAD47EB17}" type="datetimeFigureOut">
              <a:rPr lang="en-IN" smtClean="0"/>
              <a:t>19/01/26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C9780-F6FB-4BE3-B832-A695B5B5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306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6DF7-4DB3-4A0F-B03C-75DAAD47EB17}" type="datetimeFigureOut">
              <a:rPr lang="en-IN" smtClean="0"/>
              <a:t>19/01/26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C9780-F6FB-4BE3-B832-A695B5B5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465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6DF7-4DB3-4A0F-B03C-75DAAD47EB17}" type="datetimeFigureOut">
              <a:rPr lang="en-IN" smtClean="0"/>
              <a:t>19/01/26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C9780-F6FB-4BE3-B832-A695B5B5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169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6DF7-4DB3-4A0F-B03C-75DAAD47EB17}" type="datetimeFigureOut">
              <a:rPr lang="en-IN" smtClean="0"/>
              <a:t>19/01/26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C9780-F6FB-4BE3-B832-A695B5B5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437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6DF7-4DB3-4A0F-B03C-75DAAD47EB17}" type="datetimeFigureOut">
              <a:rPr lang="en-IN" smtClean="0"/>
              <a:t>19/01/26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C9780-F6FB-4BE3-B832-A695B5B5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772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6DF7-4DB3-4A0F-B03C-75DAAD47EB17}" type="datetimeFigureOut">
              <a:rPr lang="en-IN" smtClean="0"/>
              <a:t>19/01/26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C9780-F6FB-4BE3-B832-A695B5B5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849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6DF7-4DB3-4A0F-B03C-75DAAD47EB17}" type="datetimeFigureOut">
              <a:rPr lang="en-IN" smtClean="0"/>
              <a:t>19/01/26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C9780-F6FB-4BE3-B832-A695B5B5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7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6DF7-4DB3-4A0F-B03C-75DAAD47EB17}" type="datetimeFigureOut">
              <a:rPr lang="en-IN" smtClean="0"/>
              <a:t>19/01/26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C9780-F6FB-4BE3-B832-A695B5B5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240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6DF7-4DB3-4A0F-B03C-75DAAD47EB17}" type="datetimeFigureOut">
              <a:rPr lang="en-IN" smtClean="0"/>
              <a:t>19/01/26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C9780-F6FB-4BE3-B832-A695B5B5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216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6DF7-4DB3-4A0F-B03C-75DAAD47EB17}" type="datetimeFigureOut">
              <a:rPr lang="en-IN" smtClean="0"/>
              <a:t>19/01/26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C9780-F6FB-4BE3-B832-A695B5B5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4787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6DF7-4DB3-4A0F-B03C-75DAAD47EB17}" type="datetimeFigureOut">
              <a:rPr lang="en-IN" smtClean="0"/>
              <a:t>19/01/26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C9780-F6FB-4BE3-B832-A695B5B5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412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6DF7-4DB3-4A0F-B03C-75DAAD47EB17}" type="datetimeFigureOut">
              <a:rPr lang="en-IN" smtClean="0"/>
              <a:t>19/01/26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C9780-F6FB-4BE3-B832-A695B5B5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9293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6DF7-4DB3-4A0F-B03C-75DAAD47EB17}" type="datetimeFigureOut">
              <a:rPr lang="en-IN" smtClean="0"/>
              <a:t>19/01/26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C9780-F6FB-4BE3-B832-A695B5B5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364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6DF7-4DB3-4A0F-B03C-75DAAD47EB17}" type="datetimeFigureOut">
              <a:rPr lang="en-IN" smtClean="0"/>
              <a:t>19/01/26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C9780-F6FB-4BE3-B832-A695B5B5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699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6DF7-4DB3-4A0F-B03C-75DAAD47EB17}" type="datetimeFigureOut">
              <a:rPr lang="en-IN" smtClean="0"/>
              <a:t>19/01/26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C9780-F6FB-4BE3-B832-A695B5B5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14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06B6DF7-4DB3-4A0F-B03C-75DAAD47EB17}" type="datetimeFigureOut">
              <a:rPr lang="en-IN" smtClean="0"/>
              <a:t>19/01/26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5EC9780-F6FB-4BE3-B832-A695B5B5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59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microsoft.com/office/2007/relationships/hdphoto" Target="../media/hdphoto4.wdp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microsoft.com/office/2007/relationships/hdphoto" Target="../media/hdphoto8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microsoft.com/office/2007/relationships/hdphoto" Target="../media/hdphoto7.wdp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D455-C676-4DAB-9DFC-1DBB2DF88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7143" y="859972"/>
            <a:ext cx="9427028" cy="2318657"/>
          </a:xfrm>
        </p:spPr>
        <p:txBody>
          <a:bodyPr>
            <a:normAutofit/>
          </a:bodyPr>
          <a:lstStyle/>
          <a:p>
            <a:r>
              <a:rPr lang="en-US" dirty="0">
                <a:latin typeface="Bahnschrift Light Condensed" panose="020B0502040204020203" pitchFamily="34" charset="0"/>
              </a:rPr>
              <a:t>Insurance Analytics Dashboard &amp; Business Insights</a:t>
            </a:r>
            <a:endParaRPr lang="en-IN" dirty="0">
              <a:latin typeface="Bahnschrift Light Condensed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777748-CC6C-4F1E-AA67-62043A2C8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857" y="3178629"/>
            <a:ext cx="6803572" cy="3015342"/>
          </a:xfrm>
        </p:spPr>
        <p:txBody>
          <a:bodyPr>
            <a:normAutofit fontScale="92500" lnSpcReduction="20000"/>
          </a:bodyPr>
          <a:lstStyle/>
          <a:p>
            <a:r>
              <a:rPr lang="en-IN" sz="4300" b="1" dirty="0"/>
              <a:t>Group 3</a:t>
            </a:r>
          </a:p>
          <a:p>
            <a:r>
              <a:rPr lang="en-IN" dirty="0"/>
              <a:t>Akhil Anil</a:t>
            </a:r>
          </a:p>
          <a:p>
            <a:r>
              <a:rPr lang="en-IN" dirty="0"/>
              <a:t>Vishal Prasad</a:t>
            </a:r>
          </a:p>
          <a:p>
            <a:r>
              <a:rPr lang="en-IN" dirty="0"/>
              <a:t>Madhu Kumari</a:t>
            </a:r>
          </a:p>
          <a:p>
            <a:r>
              <a:rPr lang="en-IN" dirty="0"/>
              <a:t>Nikhil Krishna</a:t>
            </a:r>
          </a:p>
          <a:p>
            <a:r>
              <a:rPr lang="en-IN" dirty="0"/>
              <a:t>Kasina Sasi Naga Sai</a:t>
            </a:r>
          </a:p>
          <a:p>
            <a:r>
              <a:rPr lang="en-IN" dirty="0"/>
              <a:t>Prem Kumar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4244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D69F4-7E2A-4CF1-BD8F-E5EE165D3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75447"/>
          </a:xfrm>
        </p:spPr>
        <p:txBody>
          <a:bodyPr/>
          <a:lstStyle/>
          <a:p>
            <a:r>
              <a:rPr lang="en-IN" dirty="0"/>
              <a:t>Business Requirements &amp;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91923-52F9-4408-A394-476501026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375213"/>
          </a:xfrm>
        </p:spPr>
        <p:txBody>
          <a:bodyPr numCol="2">
            <a:normAutofit fontScale="85000" lnSpcReduction="20000"/>
          </a:bodyPr>
          <a:lstStyle/>
          <a:p>
            <a:pPr marL="0" indent="0">
              <a:buNone/>
            </a:pPr>
            <a:r>
              <a:rPr lang="en-US" sz="3300" dirty="0"/>
              <a:t>Business Requirements:</a:t>
            </a:r>
          </a:p>
          <a:p>
            <a:r>
              <a:rPr lang="en-US" dirty="0"/>
              <a:t>- Track premium revenue</a:t>
            </a:r>
          </a:p>
          <a:p>
            <a:r>
              <a:rPr lang="en-US" dirty="0"/>
              <a:t>- Analyze claim amount &amp; frequency</a:t>
            </a:r>
          </a:p>
          <a:p>
            <a:r>
              <a:rPr lang="en-US" dirty="0"/>
              <a:t>- Evaluate policy performance</a:t>
            </a:r>
          </a:p>
          <a:p>
            <a:r>
              <a:rPr lang="en-US" dirty="0"/>
              <a:t>- Identify profitable customers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300" dirty="0"/>
              <a:t>Key KPIs:</a:t>
            </a:r>
          </a:p>
          <a:p>
            <a:r>
              <a:rPr lang="en-US" dirty="0"/>
              <a:t>- Total Premium</a:t>
            </a:r>
          </a:p>
          <a:p>
            <a:r>
              <a:rPr lang="en-US" dirty="0"/>
              <a:t>- Total Claims</a:t>
            </a:r>
          </a:p>
          <a:p>
            <a:r>
              <a:rPr lang="en-US" dirty="0"/>
              <a:t>- Claim Ratio</a:t>
            </a:r>
          </a:p>
          <a:p>
            <a:r>
              <a:rPr lang="en-US" dirty="0"/>
              <a:t>- Policy Performance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649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FD86E-FF80-431B-A759-09559DE44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856129"/>
          </a:xfrm>
        </p:spPr>
        <p:txBody>
          <a:bodyPr/>
          <a:lstStyle/>
          <a:p>
            <a:r>
              <a:rPr lang="en-IN" dirty="0"/>
              <a:t>Excel 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2AEA50-539F-4167-96A9-B306EC945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9911" y="1619227"/>
            <a:ext cx="9713020" cy="36200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0BBCF5-C616-4CE2-93F3-52E3B7CBCE63}"/>
              </a:ext>
            </a:extLst>
          </p:cNvPr>
          <p:cNvSpPr txBox="1"/>
          <p:nvPr/>
        </p:nvSpPr>
        <p:spPr>
          <a:xfrm>
            <a:off x="1972234" y="5412259"/>
            <a:ext cx="87410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Shows summary of premium, claims, and customer distribution.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for quick reporting and KPI tracking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7217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3AC72-693B-42BC-BF84-D5AA16EFC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75447"/>
          </a:xfrm>
        </p:spPr>
        <p:txBody>
          <a:bodyPr/>
          <a:lstStyle/>
          <a:p>
            <a:r>
              <a:rPr lang="en-IN" dirty="0"/>
              <a:t>Power BI 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CB261-9D80-49DC-A66C-9A6DFCE5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5175997"/>
            <a:ext cx="10018713" cy="1224804"/>
          </a:xfrm>
        </p:spPr>
        <p:txBody>
          <a:bodyPr/>
          <a:lstStyle/>
          <a:p>
            <a:r>
              <a:rPr lang="en-US" dirty="0"/>
              <a:t>Interactive KPIs, trend analysis, and drill-down insights.</a:t>
            </a:r>
          </a:p>
          <a:p>
            <a:r>
              <a:rPr lang="en-US" dirty="0"/>
              <a:t>Helps in deeper business analysis.</a:t>
            </a:r>
          </a:p>
          <a:p>
            <a:endParaRPr lang="en-IN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EF00AF91-32CD-4686-9FC3-C0079FCC69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600"/>
            <a:ext cx="4052047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 descr="A screenshot of a dashboard&#10;&#10;AI-generated content may be incorrect.">
            <a:extLst>
              <a:ext uri="{FF2B5EF4-FFF2-40B4-BE49-F238E27FC236}">
                <a16:creationId xmlns:a16="http://schemas.microsoft.com/office/drawing/2014/main" id="{9E575956-8D0A-34E6-4EA7-5B6350AB4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10" y="1461247"/>
            <a:ext cx="9417053" cy="339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44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71AE-6F69-4EAE-8C68-A08680859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084117"/>
          </a:xfrm>
        </p:spPr>
        <p:txBody>
          <a:bodyPr/>
          <a:lstStyle/>
          <a:p>
            <a:r>
              <a:rPr lang="en-IN" dirty="0"/>
              <a:t>Tableau Dashboard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67B276-D9DE-4C11-BE6C-DA1BB766AA54}"/>
              </a:ext>
            </a:extLst>
          </p:cNvPr>
          <p:cNvSpPr txBox="1"/>
          <p:nvPr/>
        </p:nvSpPr>
        <p:spPr>
          <a:xfrm>
            <a:off x="2230581" y="5458691"/>
            <a:ext cx="91024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Visual storytelling and comparative analysis of policies and claims.</a:t>
            </a:r>
          </a:p>
        </p:txBody>
      </p:sp>
      <p:pic>
        <p:nvPicPr>
          <p:cNvPr id="12" name="Content Placeholder 11" descr="A screenshot of a dashboard&#10;&#10;AI-generated content may be incorrect.">
            <a:extLst>
              <a:ext uri="{FF2B5EF4-FFF2-40B4-BE49-F238E27FC236}">
                <a16:creationId xmlns:a16="http://schemas.microsoft.com/office/drawing/2014/main" id="{5F46E158-A64F-1AAD-DFF9-FABA62202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582" y="1680519"/>
            <a:ext cx="8825345" cy="3681190"/>
          </a:xfrm>
        </p:spPr>
      </p:pic>
    </p:spTree>
    <p:extLst>
      <p:ext uri="{BB962C8B-B14F-4D97-AF65-F5344CB8AC3E}">
        <p14:creationId xmlns:p14="http://schemas.microsoft.com/office/powerpoint/2010/main" val="3566815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4214A-D143-4161-B636-712072288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23047"/>
          </a:xfrm>
        </p:spPr>
        <p:txBody>
          <a:bodyPr>
            <a:normAutofit/>
          </a:bodyPr>
          <a:lstStyle/>
          <a:p>
            <a:r>
              <a:rPr lang="en-IN" sz="32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SQL Overview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B34411-D55B-433E-B210-9B93A9DC5F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55794" y="1517895"/>
            <a:ext cx="4663844" cy="122692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2226EA-F80B-42FF-8D8D-5E288DAC50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55794" y="2953869"/>
            <a:ext cx="4663844" cy="22546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0C6650-1877-45A8-8E01-0ABD050075F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rcRect b="23405"/>
          <a:stretch/>
        </p:blipFill>
        <p:spPr>
          <a:xfrm>
            <a:off x="1355794" y="5439954"/>
            <a:ext cx="4663843" cy="12611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57F56E-81A2-4891-B728-2D6F93ADE6E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rcRect l="4575" r="10012"/>
          <a:stretch/>
        </p:blipFill>
        <p:spPr>
          <a:xfrm>
            <a:off x="6248448" y="1517895"/>
            <a:ext cx="4587757" cy="17603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46DB42-3FD1-4016-A2FE-389ABABAAE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48448" y="3579732"/>
            <a:ext cx="4587756" cy="272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47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3F816-9AC6-4CA1-A371-DFFC3D602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0" y="1120588"/>
            <a:ext cx="1202577" cy="647771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1B13288-4CA5-4692-AF4E-7271B08748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84310" y="3904007"/>
            <a:ext cx="4611690" cy="2819644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08420E-1708-4419-93EC-162417E7E6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84310" y="697078"/>
            <a:ext cx="4611690" cy="30053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8C48B8-B505-40C1-8DF7-BB333C8E38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69670" y="1633050"/>
            <a:ext cx="4138019" cy="368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981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69FD-CEE6-4FEF-BED0-E3044869B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38200"/>
          </a:xfrm>
        </p:spPr>
        <p:txBody>
          <a:bodyPr/>
          <a:lstStyle/>
          <a:p>
            <a:r>
              <a:rPr lang="en-IN" dirty="0"/>
              <a:t>KPI Conclusions &amp; 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C88D8-8399-4D66-AFDA-D639B4153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46729"/>
            <a:ext cx="10018713" cy="3944471"/>
          </a:xfrm>
        </p:spPr>
        <p:txBody>
          <a:bodyPr numCol="2"/>
          <a:lstStyle/>
          <a:p>
            <a:pPr marL="0" indent="0">
              <a:buNone/>
            </a:pPr>
            <a:r>
              <a:rPr lang="en-US" sz="2800" dirty="0"/>
              <a:t>Conclusions: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sz="2000" dirty="0"/>
              <a:t>Few policies generate maximum revenue</a:t>
            </a:r>
          </a:p>
          <a:p>
            <a:pPr marL="0" indent="0">
              <a:buNone/>
            </a:pPr>
            <a:r>
              <a:rPr lang="en-US" sz="2000" dirty="0"/>
              <a:t>- High claim ratio indicates risky policies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/>
              <a:t>Suggestions:</a:t>
            </a:r>
          </a:p>
          <a:p>
            <a:pPr marL="0" indent="0">
              <a:buNone/>
            </a:pPr>
            <a:r>
              <a:rPr lang="en-US" sz="2000" dirty="0"/>
              <a:t>- Focus on high-performing policies</a:t>
            </a:r>
          </a:p>
          <a:p>
            <a:pPr marL="0" indent="0">
              <a:buNone/>
            </a:pPr>
            <a:r>
              <a:rPr lang="en-US" sz="2000" dirty="0"/>
              <a:t>- Optimize high-claim policies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871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BFAA2-A6BF-4DA6-9A9F-8D1D691D3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66482"/>
          </a:xfrm>
        </p:spPr>
        <p:txBody>
          <a:bodyPr/>
          <a:lstStyle/>
          <a:p>
            <a:r>
              <a:rPr lang="en-IN" dirty="0"/>
              <a:t>Business Impact &amp; Final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8C44C-1CEC-4B00-B7B6-800664EA1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94329"/>
            <a:ext cx="10018713" cy="4096871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sz="3200" dirty="0"/>
              <a:t>Business Impact:</a:t>
            </a:r>
          </a:p>
          <a:p>
            <a:r>
              <a:rPr lang="en-US" dirty="0"/>
              <a:t>- Better data-driven decisions</a:t>
            </a:r>
          </a:p>
          <a:p>
            <a:r>
              <a:rPr lang="en-US" dirty="0"/>
              <a:t>- Reduced risk and improved profitability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3200" dirty="0"/>
              <a:t>Final Conclusion:</a:t>
            </a:r>
          </a:p>
          <a:p>
            <a:r>
              <a:rPr lang="en-US" dirty="0"/>
              <a:t>Dashboards convert raw data into meaningful business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2541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158</TotalTime>
  <Words>178</Words>
  <Application>Microsoft Macintosh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Bahnschrift Light Condensed</vt:lpstr>
      <vt:lpstr>Calibri</vt:lpstr>
      <vt:lpstr>Corbel</vt:lpstr>
      <vt:lpstr>Parallax</vt:lpstr>
      <vt:lpstr>Insurance Analytics Dashboard &amp; Business Insights</vt:lpstr>
      <vt:lpstr>Business Requirements &amp; KPIs</vt:lpstr>
      <vt:lpstr>Excel Dashboard Overview</vt:lpstr>
      <vt:lpstr>Power BI Dashboard Overview</vt:lpstr>
      <vt:lpstr>Tableau Dashboard Overview</vt:lpstr>
      <vt:lpstr>SQL Overview</vt:lpstr>
      <vt:lpstr>PowerPoint Presentation</vt:lpstr>
      <vt:lpstr>KPI Conclusions &amp; Suggestions</vt:lpstr>
      <vt:lpstr>Business Impact &amp; Final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Analytics Dashboard &amp; Business Insights</dc:title>
  <dc:creator>Akhil Anil</dc:creator>
  <cp:lastModifiedBy>madhu raj</cp:lastModifiedBy>
  <cp:revision>14</cp:revision>
  <dcterms:created xsi:type="dcterms:W3CDTF">2026-01-18T06:12:31Z</dcterms:created>
  <dcterms:modified xsi:type="dcterms:W3CDTF">2026-01-19T06:22:20Z</dcterms:modified>
</cp:coreProperties>
</file>